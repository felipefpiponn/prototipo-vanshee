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Plus Jakarta Sans"/>
      <p:regular r:id="rId14"/>
      <p:bold r:id="rId15"/>
      <p:italic r:id="rId16"/>
      <p:boldItalic r:id="rId17"/>
    </p:embeddedFont>
    <p:embeddedFont>
      <p:font typeface="JetBrains Mono SemiBold"/>
      <p:regular r:id="rId18"/>
      <p:bold r:id="rId19"/>
      <p:italic r:id="rId20"/>
      <p:boldItalic r:id="rId21"/>
    </p:embeddedFont>
    <p:embeddedFont>
      <p:font typeface="Outfit"/>
      <p:regular r:id="rId22"/>
      <p:bold r:id="rId23"/>
    </p:embeddedFont>
    <p:embeddedFont>
      <p:font typeface="JetBrains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8" roundtripDataSignature="AMtx7mj7tr9hZt8uyPM6KOehvbRMLnqN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etBrainsMonoSemiBold-italic.fntdata"/><Relationship Id="rId22" Type="http://schemas.openxmlformats.org/officeDocument/2006/relationships/font" Target="fonts/Outfit-regular.fntdata"/><Relationship Id="rId21" Type="http://schemas.openxmlformats.org/officeDocument/2006/relationships/font" Target="fonts/JetBrainsMonoSemiBold-boldItalic.fntdata"/><Relationship Id="rId24" Type="http://schemas.openxmlformats.org/officeDocument/2006/relationships/font" Target="fonts/JetBrainsMono-regular.fntdata"/><Relationship Id="rId23" Type="http://schemas.openxmlformats.org/officeDocument/2006/relationships/font" Target="fonts/Outfi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JetBrainsMono-italic.fntdata"/><Relationship Id="rId25" Type="http://schemas.openxmlformats.org/officeDocument/2006/relationships/font" Target="fonts/JetBrainsMono-bold.fntdata"/><Relationship Id="rId28" Type="http://customschemas.google.com/relationships/presentationmetadata" Target="metadata"/><Relationship Id="rId27" Type="http://schemas.openxmlformats.org/officeDocument/2006/relationships/font" Target="fonts/JetBrains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PlusJakartaSans-bold.fntdata"/><Relationship Id="rId14" Type="http://schemas.openxmlformats.org/officeDocument/2006/relationships/font" Target="fonts/PlusJakartaSans-regular.fntdata"/><Relationship Id="rId17" Type="http://schemas.openxmlformats.org/officeDocument/2006/relationships/font" Target="fonts/PlusJakartaSans-boldItalic.fntdata"/><Relationship Id="rId16" Type="http://schemas.openxmlformats.org/officeDocument/2006/relationships/font" Target="fonts/PlusJakartaSans-italic.fntdata"/><Relationship Id="rId19" Type="http://schemas.openxmlformats.org/officeDocument/2006/relationships/font" Target="fonts/JetBrainsMonoSemiBold-bold.fntdata"/><Relationship Id="rId18" Type="http://schemas.openxmlformats.org/officeDocument/2006/relationships/font" Target="fonts/JetBrainsMono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png"/><Relationship Id="rId10" Type="http://schemas.openxmlformats.org/officeDocument/2006/relationships/image" Target="../media/image47.png"/><Relationship Id="rId13" Type="http://schemas.openxmlformats.org/officeDocument/2006/relationships/image" Target="../media/image17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0.png"/><Relationship Id="rId9" Type="http://schemas.openxmlformats.org/officeDocument/2006/relationships/image" Target="../media/image63.png"/><Relationship Id="rId15" Type="http://schemas.openxmlformats.org/officeDocument/2006/relationships/image" Target="../media/image6.png"/><Relationship Id="rId14" Type="http://schemas.openxmlformats.org/officeDocument/2006/relationships/image" Target="../media/image7.png"/><Relationship Id="rId17" Type="http://schemas.openxmlformats.org/officeDocument/2006/relationships/image" Target="../media/image10.png"/><Relationship Id="rId16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8.png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9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11.png"/><Relationship Id="rId7" Type="http://schemas.openxmlformats.org/officeDocument/2006/relationships/image" Target="../media/image29.png"/><Relationship Id="rId8" Type="http://schemas.openxmlformats.org/officeDocument/2006/relationships/image" Target="../media/image63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2.png"/><Relationship Id="rId10" Type="http://schemas.openxmlformats.org/officeDocument/2006/relationships/image" Target="../media/image26.png"/><Relationship Id="rId13" Type="http://schemas.openxmlformats.org/officeDocument/2006/relationships/image" Target="../media/image24.png"/><Relationship Id="rId1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9" Type="http://schemas.openxmlformats.org/officeDocument/2006/relationships/image" Target="../media/image27.png"/><Relationship Id="rId5" Type="http://schemas.openxmlformats.org/officeDocument/2006/relationships/image" Target="../media/image37.png"/><Relationship Id="rId6" Type="http://schemas.openxmlformats.org/officeDocument/2006/relationships/image" Target="../media/image63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35.png"/><Relationship Id="rId10" Type="http://schemas.openxmlformats.org/officeDocument/2006/relationships/image" Target="../media/image36.png"/><Relationship Id="rId13" Type="http://schemas.openxmlformats.org/officeDocument/2006/relationships/image" Target="../media/image33.png"/><Relationship Id="rId1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9" Type="http://schemas.openxmlformats.org/officeDocument/2006/relationships/image" Target="../media/image51.png"/><Relationship Id="rId5" Type="http://schemas.openxmlformats.org/officeDocument/2006/relationships/image" Target="../media/image63.png"/><Relationship Id="rId6" Type="http://schemas.openxmlformats.org/officeDocument/2006/relationships/image" Target="../media/image58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44.png"/><Relationship Id="rId10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8.png"/><Relationship Id="rId9" Type="http://schemas.openxmlformats.org/officeDocument/2006/relationships/image" Target="../media/image42.png"/><Relationship Id="rId5" Type="http://schemas.openxmlformats.org/officeDocument/2006/relationships/image" Target="../media/image40.png"/><Relationship Id="rId6" Type="http://schemas.openxmlformats.org/officeDocument/2006/relationships/image" Target="../media/image65.png"/><Relationship Id="rId7" Type="http://schemas.openxmlformats.org/officeDocument/2006/relationships/image" Target="../media/image39.png"/><Relationship Id="rId8" Type="http://schemas.openxmlformats.org/officeDocument/2006/relationships/image" Target="../media/image63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48.png"/><Relationship Id="rId10" Type="http://schemas.openxmlformats.org/officeDocument/2006/relationships/image" Target="../media/image56.png"/><Relationship Id="rId13" Type="http://schemas.openxmlformats.org/officeDocument/2006/relationships/image" Target="../media/image54.png"/><Relationship Id="rId1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46.png"/><Relationship Id="rId9" Type="http://schemas.openxmlformats.org/officeDocument/2006/relationships/image" Target="../media/image43.png"/><Relationship Id="rId5" Type="http://schemas.openxmlformats.org/officeDocument/2006/relationships/image" Target="../media/image45.png"/><Relationship Id="rId6" Type="http://schemas.openxmlformats.org/officeDocument/2006/relationships/image" Target="../media/image49.png"/><Relationship Id="rId7" Type="http://schemas.openxmlformats.org/officeDocument/2006/relationships/image" Target="../media/image52.png"/><Relationship Id="rId8" Type="http://schemas.openxmlformats.org/officeDocument/2006/relationships/image" Target="../media/image63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66.png"/><Relationship Id="rId10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0.png"/><Relationship Id="rId9" Type="http://schemas.openxmlformats.org/officeDocument/2006/relationships/image" Target="../media/image57.png"/><Relationship Id="rId5" Type="http://schemas.openxmlformats.org/officeDocument/2006/relationships/image" Target="../media/image59.png"/><Relationship Id="rId6" Type="http://schemas.openxmlformats.org/officeDocument/2006/relationships/image" Target="../media/image55.png"/><Relationship Id="rId7" Type="http://schemas.openxmlformats.org/officeDocument/2006/relationships/image" Target="../media/image63.png"/><Relationship Id="rId8" Type="http://schemas.openxmlformats.org/officeDocument/2006/relationships/image" Target="../media/image6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8.png"/><Relationship Id="rId5" Type="http://schemas.openxmlformats.org/officeDocument/2006/relationships/image" Target="../media/image63.png"/><Relationship Id="rId6" Type="http://schemas.openxmlformats.org/officeDocument/2006/relationships/image" Target="../media/image62.png"/><Relationship Id="rId7" Type="http://schemas.openxmlformats.org/officeDocument/2006/relationships/image" Target="../media/image69.png"/><Relationship Id="rId8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38412" y="4495800"/>
            <a:ext cx="1476375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48137" y="4495800"/>
            <a:ext cx="13525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34037" y="4495800"/>
            <a:ext cx="1152525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19912" y="4495800"/>
            <a:ext cx="1438275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91537" y="4495800"/>
            <a:ext cx="11620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9125" y="6391275"/>
            <a:ext cx="109537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53100" y="20383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619125" y="651510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Duoc UC • Capstone PTY4614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9639300" y="6515100"/>
            <a:ext cx="19335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Martín Encina • Felipe Flores</a:t>
            </a:r>
            <a:endParaRPr/>
          </a:p>
        </p:txBody>
      </p:sp>
      <p:pic>
        <p:nvPicPr>
          <p:cNvPr descr="image.png" id="94" name="Google Shape;94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43600" y="222885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 txBox="1"/>
          <p:nvPr/>
        </p:nvSpPr>
        <p:spPr>
          <a:xfrm>
            <a:off x="2790586" y="3028950"/>
            <a:ext cx="6610826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VANSHEE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2947987" y="3905250"/>
            <a:ext cx="62960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Asistente Virtual Inteligente &amp; Automatización de Estaciones de Trabajo</a:t>
            </a:r>
            <a:endParaRPr/>
          </a:p>
        </p:txBody>
      </p:sp>
      <p:pic>
        <p:nvPicPr>
          <p:cNvPr descr="image.png" id="97" name="Google Shape;97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19125" y="6534150"/>
            <a:ext cx="1047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719387" y="4595812"/>
            <a:ext cx="9525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329112" y="4595812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815012" y="4595812"/>
            <a:ext cx="1524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100887" y="4595812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672512" y="4595812"/>
            <a:ext cx="152400" cy="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5137" y="2729061"/>
            <a:ext cx="4757737" cy="21141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" y="2401490"/>
            <a:ext cx="5815012" cy="12322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5" y="3786187"/>
            <a:ext cx="5815012" cy="12322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24662" y="2738586"/>
            <a:ext cx="4738687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9125" y="6391275"/>
            <a:ext cx="109537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257823" y="538162"/>
            <a:ext cx="17907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"/>
          <p:cNvSpPr txBox="1"/>
          <p:nvPr/>
        </p:nvSpPr>
        <p:spPr>
          <a:xfrm>
            <a:off x="619125" y="6515100"/>
            <a:ext cx="33337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Capacidades de Interacción Humano-Computador (HCI)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11039475" y="6515100"/>
            <a:ext cx="533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Slide 02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1143000" y="2639615"/>
            <a:ext cx="5305663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Tu estación al alcance de tu voz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857250" y="2953940"/>
            <a:ext cx="5338762" cy="441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Permite interactuar, orquestar flujos de desarrollo y ejecutar comandos de sistema sin fricción operativa ni necesidad de periféricos manuales constantes.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1123950" y="4024312"/>
            <a:ext cx="532566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Tu computador, bajo tu control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857250" y="4338637"/>
            <a:ext cx="5338762" cy="441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Ejecución nativa y segura: automatización en Python bajo contratos de datos validados, minimizando riesgos y asegurando privacidad local.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8495555" y="2852886"/>
            <a:ext cx="12668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VANSHEE_DAEMON v1.0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10861774" y="2852886"/>
            <a:ext cx="5301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● ACTIVE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7015162" y="3300561"/>
            <a:ext cx="4357687" cy="222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VoiceInput: "Prepara el entorno de desarrollo"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7015162" y="3580507"/>
            <a:ext cx="4357687" cy="222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Parser: [Target: 'VSCode', Branch: 'main']</a:t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7015162" y="3860452"/>
            <a:ext cx="4357687" cy="222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A78B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RPA: Launching workspace &amp; terminal...</a:t>
            </a:r>
            <a:endParaRPr/>
          </a:p>
        </p:txBody>
      </p:sp>
      <p:sp>
        <p:nvSpPr>
          <p:cNvPr id="125" name="Google Shape;125;p2"/>
          <p:cNvSpPr txBox="1"/>
          <p:nvPr/>
        </p:nvSpPr>
        <p:spPr>
          <a:xfrm>
            <a:off x="7015162" y="4140398"/>
            <a:ext cx="4357687" cy="222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System: Proceso ejecutado con éxito (PID: 9021)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7015162" y="4420344"/>
            <a:ext cx="4357687" cy="222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VoiceOutput: "Entorno listo para programar."</a:t>
            </a:r>
            <a:endParaRPr/>
          </a:p>
        </p:txBody>
      </p:sp>
      <p:pic>
        <p:nvPicPr>
          <p:cNvPr descr="image.png" id="127" name="Google Shape;127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250" y="2672953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57250" y="405765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"/>
          <p:cNvSpPr/>
          <p:nvPr/>
        </p:nvSpPr>
        <p:spPr>
          <a:xfrm>
            <a:off x="6996112" y="2871936"/>
            <a:ext cx="95250" cy="9525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7148512" y="2871936"/>
            <a:ext cx="95250" cy="9525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7300912" y="2871936"/>
            <a:ext cx="95250" cy="9525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 txBox="1"/>
          <p:nvPr/>
        </p:nvSpPr>
        <p:spPr>
          <a:xfrm>
            <a:off x="619125" y="428625"/>
            <a:ext cx="11501437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¿Qué es </a:t>
            </a:r>
            <a:r>
              <a:rPr b="1" i="0" lang="en-US" sz="30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VANSHEE</a:t>
            </a:r>
            <a:r>
              <a:rPr b="1" i="0" lang="en-US" sz="30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" y="2581275"/>
            <a:ext cx="5372100" cy="1100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0775" y="2581275"/>
            <a:ext cx="5372100" cy="1100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" y="3890962"/>
            <a:ext cx="5372100" cy="1100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00775" y="3890962"/>
            <a:ext cx="5372100" cy="1100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5" y="6391275"/>
            <a:ext cx="109537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95143" y="538162"/>
            <a:ext cx="19621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3"/>
          <p:cNvSpPr txBox="1"/>
          <p:nvPr/>
        </p:nvSpPr>
        <p:spPr>
          <a:xfrm>
            <a:off x="619125" y="6515100"/>
            <a:ext cx="20669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Stack Tecnológico • Python Core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11039475" y="6515100"/>
            <a:ext cx="533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Slide 03</a:t>
            </a:r>
            <a:endParaRPr/>
          </a:p>
        </p:txBody>
      </p:sp>
      <p:pic>
        <p:nvPicPr>
          <p:cNvPr descr="image.png" id="146" name="Google Shape;146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7250" y="2800350"/>
            <a:ext cx="4381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38900" y="2800350"/>
            <a:ext cx="4381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7250" y="4110037"/>
            <a:ext cx="4381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38900" y="4110037"/>
            <a:ext cx="4381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4887" y="2924175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"/>
          <p:cNvSpPr txBox="1"/>
          <p:nvPr/>
        </p:nvSpPr>
        <p:spPr>
          <a:xfrm>
            <a:off x="1466850" y="2800350"/>
            <a:ext cx="45005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Pipeline de Audio (STT / TTS)</a:t>
            </a:r>
            <a:endParaRPr/>
          </a:p>
        </p:txBody>
      </p:sp>
      <p:sp>
        <p:nvSpPr>
          <p:cNvPr id="152" name="Google Shape;152;p3"/>
          <p:cNvSpPr txBox="1"/>
          <p:nvPr/>
        </p:nvSpPr>
        <p:spPr>
          <a:xfrm>
            <a:off x="1466850" y="3076575"/>
            <a:ext cx="4286250" cy="38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Captura en tiempo real con SpeechRecognition y PyAudio con calibración de ruido, sumado a síntesis por pyttsx3.</a:t>
            </a:r>
            <a:endParaRPr/>
          </a:p>
        </p:txBody>
      </p:sp>
      <p:pic>
        <p:nvPicPr>
          <p:cNvPr descr="image.png" id="153" name="Google Shape;153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62725" y="292417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3"/>
          <p:cNvSpPr txBox="1"/>
          <p:nvPr/>
        </p:nvSpPr>
        <p:spPr>
          <a:xfrm>
            <a:off x="7048500" y="2800350"/>
            <a:ext cx="45005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Inferencia y Razonamiento LLM</a:t>
            </a:r>
            <a:endParaRPr/>
          </a:p>
        </p:txBody>
      </p:sp>
      <p:sp>
        <p:nvSpPr>
          <p:cNvPr id="155" name="Google Shape;155;p3"/>
          <p:cNvSpPr txBox="1"/>
          <p:nvPr/>
        </p:nvSpPr>
        <p:spPr>
          <a:xfrm>
            <a:off x="7048500" y="3076575"/>
            <a:ext cx="4286250" cy="38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Comprensión semántica con Gemini API para traducir lenguaje natural a esquemas estructurados en JSON y Pydantic.</a:t>
            </a:r>
            <a:endParaRPr/>
          </a:p>
        </p:txBody>
      </p:sp>
      <p:pic>
        <p:nvPicPr>
          <p:cNvPr descr="image.png" id="156" name="Google Shape;156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57262" y="4233862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3"/>
          <p:cNvSpPr txBox="1"/>
          <p:nvPr/>
        </p:nvSpPr>
        <p:spPr>
          <a:xfrm>
            <a:off x="1466850" y="4110037"/>
            <a:ext cx="45005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Controladores de Automatización</a:t>
            </a:r>
            <a:endParaRPr/>
          </a:p>
        </p:txBody>
      </p:sp>
      <p:sp>
        <p:nvSpPr>
          <p:cNvPr id="158" name="Google Shape;158;p3"/>
          <p:cNvSpPr txBox="1"/>
          <p:nvPr/>
        </p:nvSpPr>
        <p:spPr>
          <a:xfrm>
            <a:off x="1466850" y="4386262"/>
            <a:ext cx="4286250" cy="38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Módulos de RPA local con subprocess y pyautogui para manipulación de procesos, archivos y herramientas de software.</a:t>
            </a:r>
            <a:endParaRPr/>
          </a:p>
        </p:txBody>
      </p:sp>
      <p:pic>
        <p:nvPicPr>
          <p:cNvPr descr="image.png" id="159" name="Google Shape;159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572250" y="4233862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"/>
          <p:cNvSpPr txBox="1"/>
          <p:nvPr/>
        </p:nvSpPr>
        <p:spPr>
          <a:xfrm>
            <a:off x="7048500" y="4110037"/>
            <a:ext cx="45005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Persistencia y Telemetría</a:t>
            </a:r>
            <a:endParaRPr/>
          </a:p>
        </p:txBody>
      </p:sp>
      <p:sp>
        <p:nvSpPr>
          <p:cNvPr id="161" name="Google Shape;161;p3"/>
          <p:cNvSpPr txBox="1"/>
          <p:nvPr/>
        </p:nvSpPr>
        <p:spPr>
          <a:xfrm>
            <a:off x="7048500" y="4386262"/>
            <a:ext cx="4286250" cy="38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Base de datos relacional SQLite para el registro de historiales, atajos personalizados y métricas de latencia.</a:t>
            </a:r>
            <a:endParaRPr/>
          </a:p>
        </p:txBody>
      </p:sp>
      <p:sp>
        <p:nvSpPr>
          <p:cNvPr id="162" name="Google Shape;162;p3"/>
          <p:cNvSpPr txBox="1"/>
          <p:nvPr/>
        </p:nvSpPr>
        <p:spPr>
          <a:xfrm>
            <a:off x="619125" y="428625"/>
            <a:ext cx="11501437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¿Cómo lo </a:t>
            </a:r>
            <a:r>
              <a:rPr b="1" i="0" lang="en-US" sz="30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construiremos</a:t>
            </a:r>
            <a:r>
              <a:rPr b="1" i="0" lang="en-US" sz="30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5137" y="2886075"/>
            <a:ext cx="4757737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" y="6391275"/>
            <a:ext cx="109537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80843" y="538162"/>
            <a:ext cx="17907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4"/>
          <p:cNvSpPr txBox="1"/>
          <p:nvPr/>
        </p:nvSpPr>
        <p:spPr>
          <a:xfrm>
            <a:off x="619125" y="6515100"/>
            <a:ext cx="25336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Control Integral del Sistema Operativo</a:t>
            </a:r>
            <a:endParaRPr/>
          </a:p>
        </p:txBody>
      </p:sp>
      <p:sp>
        <p:nvSpPr>
          <p:cNvPr id="172" name="Google Shape;172;p4"/>
          <p:cNvSpPr txBox="1"/>
          <p:nvPr/>
        </p:nvSpPr>
        <p:spPr>
          <a:xfrm>
            <a:off x="11039475" y="6515100"/>
            <a:ext cx="533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Slide 04</a:t>
            </a:r>
            <a:endParaRPr/>
          </a:p>
        </p:txBody>
      </p:sp>
      <p:sp>
        <p:nvSpPr>
          <p:cNvPr id="173" name="Google Shape;173;p4"/>
          <p:cNvSpPr txBox="1"/>
          <p:nvPr/>
        </p:nvSpPr>
        <p:spPr>
          <a:xfrm>
            <a:off x="7339012" y="3143250"/>
            <a:ext cx="4175521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Métricas de Desempeño</a:t>
            </a:r>
            <a:endParaRPr/>
          </a:p>
        </p:txBody>
      </p:sp>
      <p:pic>
        <p:nvPicPr>
          <p:cNvPr descr="image.png" id="174" name="Google Shape;17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2871787"/>
            <a:ext cx="2286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02856" y="2871787"/>
            <a:ext cx="2286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9150" y="3700462"/>
            <a:ext cx="2286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802856" y="3700462"/>
            <a:ext cx="2286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9150" y="4529137"/>
            <a:ext cx="2286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802856" y="4529137"/>
            <a:ext cx="2286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072312" y="3176587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4"/>
          <p:cNvSpPr txBox="1"/>
          <p:nvPr/>
        </p:nvSpPr>
        <p:spPr>
          <a:xfrm>
            <a:off x="7072312" y="3524250"/>
            <a:ext cx="424338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Latencia Extremo a Extremo: </a:t>
            </a:r>
            <a:r>
              <a:rPr b="1" i="0" lang="en-US" sz="975" u="none" cap="none" strike="noStrike">
                <a:solidFill>
                  <a:srgbClr val="34D3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&lt; 200 ms</a:t>
            </a:r>
            <a:endParaRPr/>
          </a:p>
        </p:txBody>
      </p:sp>
      <p:sp>
        <p:nvSpPr>
          <p:cNvPr id="182" name="Google Shape;182;p4"/>
          <p:cNvSpPr txBox="1"/>
          <p:nvPr/>
        </p:nvSpPr>
        <p:spPr>
          <a:xfrm>
            <a:off x="7072312" y="3819525"/>
            <a:ext cx="424338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Tasa de Acierto Semántico: </a:t>
            </a:r>
            <a:r>
              <a:rPr b="1" i="0" lang="en-US" sz="975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&gt; 92%</a:t>
            </a:r>
            <a:endParaRPr/>
          </a:p>
        </p:txBody>
      </p:sp>
      <p:sp>
        <p:nvSpPr>
          <p:cNvPr id="183" name="Google Shape;183;p4"/>
          <p:cNvSpPr txBox="1"/>
          <p:nvPr/>
        </p:nvSpPr>
        <p:spPr>
          <a:xfrm>
            <a:off x="7072312" y="4114800"/>
            <a:ext cx="424338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Validación de Intenciones: </a:t>
            </a:r>
            <a:r>
              <a:rPr b="1" i="0" lang="en-US" sz="975" u="none" cap="none" strike="noStrike">
                <a:solidFill>
                  <a:srgbClr val="A78B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Pydantic Schema</a:t>
            </a:r>
            <a:endParaRPr/>
          </a:p>
        </p:txBody>
      </p:sp>
      <p:sp>
        <p:nvSpPr>
          <p:cNvPr id="184" name="Google Shape;184;p4"/>
          <p:cNvSpPr txBox="1"/>
          <p:nvPr/>
        </p:nvSpPr>
        <p:spPr>
          <a:xfrm>
            <a:off x="1200150" y="2781300"/>
            <a:ext cx="2000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Lanzamiento de IDEs</a:t>
            </a:r>
            <a:endParaRPr/>
          </a:p>
        </p:txBody>
      </p:sp>
      <p:sp>
        <p:nvSpPr>
          <p:cNvPr id="185" name="Google Shape;185;p4"/>
          <p:cNvSpPr txBox="1"/>
          <p:nvPr/>
        </p:nvSpPr>
        <p:spPr>
          <a:xfrm>
            <a:off x="1200150" y="2981325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7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Apertura de VS Code y proyectos.</a:t>
            </a:r>
            <a:endParaRPr/>
          </a:p>
        </p:txBody>
      </p:sp>
      <p:sp>
        <p:nvSpPr>
          <p:cNvPr id="186" name="Google Shape;186;p4"/>
          <p:cNvSpPr txBox="1"/>
          <p:nvPr/>
        </p:nvSpPr>
        <p:spPr>
          <a:xfrm>
            <a:off x="4183856" y="2781300"/>
            <a:ext cx="198024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Navegación Web</a:t>
            </a:r>
            <a:endParaRPr/>
          </a:p>
        </p:txBody>
      </p:sp>
      <p:sp>
        <p:nvSpPr>
          <p:cNvPr id="187" name="Google Shape;187;p4"/>
          <p:cNvSpPr txBox="1"/>
          <p:nvPr/>
        </p:nvSpPr>
        <p:spPr>
          <a:xfrm>
            <a:off x="4183856" y="2981325"/>
            <a:ext cx="18859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7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Consultas y apertura de pestañas.</a:t>
            </a:r>
            <a:endParaRPr/>
          </a:p>
        </p:txBody>
      </p:sp>
      <p:sp>
        <p:nvSpPr>
          <p:cNvPr id="188" name="Google Shape;188;p4"/>
          <p:cNvSpPr txBox="1"/>
          <p:nvPr/>
        </p:nvSpPr>
        <p:spPr>
          <a:xfrm>
            <a:off x="1200150" y="3609975"/>
            <a:ext cx="182022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Gestión de Archivos</a:t>
            </a:r>
            <a:endParaRPr/>
          </a:p>
        </p:txBody>
      </p:sp>
      <p:sp>
        <p:nvSpPr>
          <p:cNvPr id="189" name="Google Shape;189;p4"/>
          <p:cNvSpPr txBox="1"/>
          <p:nvPr/>
        </p:nvSpPr>
        <p:spPr>
          <a:xfrm>
            <a:off x="1200150" y="3810000"/>
            <a:ext cx="17335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7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Búsqueda y organización local.</a:t>
            </a:r>
            <a:endParaRPr/>
          </a:p>
        </p:txBody>
      </p:sp>
      <p:sp>
        <p:nvSpPr>
          <p:cNvPr id="190" name="Google Shape;190;p4"/>
          <p:cNvSpPr txBox="1"/>
          <p:nvPr/>
        </p:nvSpPr>
        <p:spPr>
          <a:xfrm>
            <a:off x="4183856" y="3609975"/>
            <a:ext cx="166020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Comandos en Terminal</a:t>
            </a:r>
            <a:endParaRPr/>
          </a:p>
        </p:txBody>
      </p:sp>
      <p:sp>
        <p:nvSpPr>
          <p:cNvPr id="191" name="Google Shape;191;p4"/>
          <p:cNvSpPr txBox="1"/>
          <p:nvPr/>
        </p:nvSpPr>
        <p:spPr>
          <a:xfrm>
            <a:off x="4183856" y="3810000"/>
            <a:ext cx="15811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7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Ejecución segura de scripts.</a:t>
            </a:r>
            <a:endParaRPr/>
          </a:p>
        </p:txBody>
      </p:sp>
      <p:sp>
        <p:nvSpPr>
          <p:cNvPr id="192" name="Google Shape;192;p4"/>
          <p:cNvSpPr txBox="1"/>
          <p:nvPr/>
        </p:nvSpPr>
        <p:spPr>
          <a:xfrm>
            <a:off x="1200150" y="4438650"/>
            <a:ext cx="170021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Telemetría y Logs</a:t>
            </a:r>
            <a:endParaRPr/>
          </a:p>
        </p:txBody>
      </p:sp>
      <p:sp>
        <p:nvSpPr>
          <p:cNvPr id="193" name="Google Shape;193;p4"/>
          <p:cNvSpPr txBox="1"/>
          <p:nvPr/>
        </p:nvSpPr>
        <p:spPr>
          <a:xfrm>
            <a:off x="1200150" y="4638675"/>
            <a:ext cx="1619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7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Historial y registro en SQLite.</a:t>
            </a:r>
            <a:endParaRPr/>
          </a:p>
        </p:txBody>
      </p:sp>
      <p:sp>
        <p:nvSpPr>
          <p:cNvPr id="194" name="Google Shape;194;p4"/>
          <p:cNvSpPr txBox="1"/>
          <p:nvPr/>
        </p:nvSpPr>
        <p:spPr>
          <a:xfrm>
            <a:off x="4183856" y="4438650"/>
            <a:ext cx="215026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Respuesta Auditiva</a:t>
            </a:r>
            <a:endParaRPr/>
          </a:p>
        </p:txBody>
      </p:sp>
      <p:sp>
        <p:nvSpPr>
          <p:cNvPr id="195" name="Google Shape;195;p4"/>
          <p:cNvSpPr txBox="1"/>
          <p:nvPr/>
        </p:nvSpPr>
        <p:spPr>
          <a:xfrm>
            <a:off x="4183856" y="4638675"/>
            <a:ext cx="2047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7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Confirmaciones de voz instantáneas.</a:t>
            </a:r>
            <a:endParaRPr/>
          </a:p>
        </p:txBody>
      </p:sp>
      <p:sp>
        <p:nvSpPr>
          <p:cNvPr id="196" name="Google Shape;196;p4"/>
          <p:cNvSpPr txBox="1"/>
          <p:nvPr/>
        </p:nvSpPr>
        <p:spPr>
          <a:xfrm>
            <a:off x="619125" y="428625"/>
            <a:ext cx="11501437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Capacidades y </a:t>
            </a:r>
            <a:r>
              <a:rPr b="1" i="0" lang="en-US" sz="30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Funciones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" y="2366962"/>
            <a:ext cx="5334000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366962"/>
            <a:ext cx="5334000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09800" y="4643437"/>
            <a:ext cx="2152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96187" y="4643437"/>
            <a:ext cx="26193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9125" y="6391275"/>
            <a:ext cx="109537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91348" y="538162"/>
            <a:ext cx="17907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5"/>
          <p:cNvSpPr txBox="1"/>
          <p:nvPr/>
        </p:nvSpPr>
        <p:spPr>
          <a:xfrm>
            <a:off x="619125" y="6515100"/>
            <a:ext cx="26003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Enrutamiento Inteligente de Intenciones</a:t>
            </a:r>
            <a:endParaRPr/>
          </a:p>
        </p:txBody>
      </p:sp>
      <p:sp>
        <p:nvSpPr>
          <p:cNvPr id="209" name="Google Shape;209;p5"/>
          <p:cNvSpPr txBox="1"/>
          <p:nvPr/>
        </p:nvSpPr>
        <p:spPr>
          <a:xfrm>
            <a:off x="11039475" y="6515100"/>
            <a:ext cx="533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Slide 05</a:t>
            </a:r>
            <a:endParaRPr/>
          </a:p>
        </p:txBody>
      </p:sp>
      <p:sp>
        <p:nvSpPr>
          <p:cNvPr id="210" name="Google Shape;210;p5"/>
          <p:cNvSpPr txBox="1"/>
          <p:nvPr/>
        </p:nvSpPr>
        <p:spPr>
          <a:xfrm>
            <a:off x="1970960" y="2662237"/>
            <a:ext cx="263032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Motor Determinista Local</a:t>
            </a:r>
            <a:endParaRPr/>
          </a:p>
        </p:txBody>
      </p:sp>
      <p:sp>
        <p:nvSpPr>
          <p:cNvPr id="211" name="Google Shape;211;p5"/>
          <p:cNvSpPr txBox="1"/>
          <p:nvPr/>
        </p:nvSpPr>
        <p:spPr>
          <a:xfrm>
            <a:off x="895350" y="4090987"/>
            <a:ext cx="47815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Comandos directos de sistema, atajos preconfigurados y control de volumen sin dependencia de internet.</a:t>
            </a:r>
            <a:endParaRPr/>
          </a:p>
        </p:txBody>
      </p:sp>
      <p:sp>
        <p:nvSpPr>
          <p:cNvPr id="212" name="Google Shape;212;p5"/>
          <p:cNvSpPr txBox="1"/>
          <p:nvPr/>
        </p:nvSpPr>
        <p:spPr>
          <a:xfrm>
            <a:off x="7555706" y="2662237"/>
            <a:ext cx="270033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Inferencia Cognitiva (LLM)</a:t>
            </a:r>
            <a:endParaRPr/>
          </a:p>
        </p:txBody>
      </p:sp>
      <p:sp>
        <p:nvSpPr>
          <p:cNvPr id="213" name="Google Shape;213;p5"/>
          <p:cNvSpPr txBox="1"/>
          <p:nvPr/>
        </p:nvSpPr>
        <p:spPr>
          <a:xfrm>
            <a:off x="6515100" y="4090987"/>
            <a:ext cx="47815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Interpretación contextual mediante LLM para órdenes compuestas, ambiguas o consultas dinámicas.</a:t>
            </a:r>
            <a:endParaRPr/>
          </a:p>
        </p:txBody>
      </p:sp>
      <p:pic>
        <p:nvPicPr>
          <p:cNvPr descr="image.png" id="214" name="Google Shape;214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333625" y="3271837"/>
            <a:ext cx="1905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53375" y="3271837"/>
            <a:ext cx="1905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5"/>
          <p:cNvSpPr txBox="1"/>
          <p:nvPr/>
        </p:nvSpPr>
        <p:spPr>
          <a:xfrm>
            <a:off x="619125" y="428625"/>
            <a:ext cx="11501437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Dos Modos de </a:t>
            </a:r>
            <a:r>
              <a:rPr b="1" i="0" lang="en-US" sz="30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Procesamiento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" y="2824311"/>
            <a:ext cx="4617541" cy="19236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70041" y="2686050"/>
            <a:ext cx="6002833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70041" y="3419475"/>
            <a:ext cx="6002833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70041" y="4152900"/>
            <a:ext cx="6002833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9125" y="6391275"/>
            <a:ext cx="109537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80062" y="538162"/>
            <a:ext cx="20478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6"/>
          <p:cNvSpPr txBox="1"/>
          <p:nvPr/>
        </p:nvSpPr>
        <p:spPr>
          <a:xfrm>
            <a:off x="619125" y="6515100"/>
            <a:ext cx="2933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Planificación Modular • Portafolio de Título</a:t>
            </a:r>
            <a:endParaRPr/>
          </a:p>
        </p:txBody>
      </p:sp>
      <p:sp>
        <p:nvSpPr>
          <p:cNvPr id="229" name="Google Shape;229;p6"/>
          <p:cNvSpPr txBox="1"/>
          <p:nvPr/>
        </p:nvSpPr>
        <p:spPr>
          <a:xfrm>
            <a:off x="11039475" y="6515100"/>
            <a:ext cx="533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Slide 06</a:t>
            </a:r>
            <a:endParaRPr/>
          </a:p>
        </p:txBody>
      </p:sp>
      <p:sp>
        <p:nvSpPr>
          <p:cNvPr id="230" name="Google Shape;230;p6"/>
          <p:cNvSpPr txBox="1"/>
          <p:nvPr/>
        </p:nvSpPr>
        <p:spPr>
          <a:xfrm>
            <a:off x="1123950" y="3062436"/>
            <a:ext cx="406832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Local Host PC</a:t>
            </a:r>
            <a:endParaRPr/>
          </a:p>
        </p:txBody>
      </p:sp>
      <p:sp>
        <p:nvSpPr>
          <p:cNvPr id="231" name="Google Shape;231;p6"/>
          <p:cNvSpPr txBox="1"/>
          <p:nvPr/>
        </p:nvSpPr>
        <p:spPr>
          <a:xfrm>
            <a:off x="857250" y="3395811"/>
            <a:ext cx="4141291" cy="1113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b="1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Entrada:</a:t>
            </a: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Calibración acústica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• </a:t>
            </a:r>
            <a:r>
              <a:rPr b="1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Núcleo:</a:t>
            </a: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Python Modular asíncrono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• </a:t>
            </a:r>
            <a:r>
              <a:rPr b="1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Actuador:</a:t>
            </a: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Scripts nativos de RPA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• </a:t>
            </a:r>
            <a:r>
              <a:rPr b="1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Persistencia:</a:t>
            </a: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SQLite embebido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• </a:t>
            </a:r>
            <a:r>
              <a:rPr b="1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Salida:</a:t>
            </a: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Síntesis auditiva fluida</a:t>
            </a:r>
            <a:endParaRPr/>
          </a:p>
        </p:txBody>
      </p:sp>
      <p:pic>
        <p:nvPicPr>
          <p:cNvPr descr="image.png" id="232" name="Google Shape;232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250" y="3086248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620375" y="2881312"/>
            <a:ext cx="7810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544175" y="3614737"/>
            <a:ext cx="8572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467975" y="4348162"/>
            <a:ext cx="933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6"/>
          <p:cNvSpPr txBox="1"/>
          <p:nvPr/>
        </p:nvSpPr>
        <p:spPr>
          <a:xfrm>
            <a:off x="5770066" y="2819400"/>
            <a:ext cx="357044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Fase 1: Definición &amp; Arquitectura</a:t>
            </a:r>
            <a:endParaRPr/>
          </a:p>
        </p:txBody>
      </p:sp>
      <p:sp>
        <p:nvSpPr>
          <p:cNvPr id="237" name="Google Shape;237;p6"/>
          <p:cNvSpPr txBox="1"/>
          <p:nvPr/>
        </p:nvSpPr>
        <p:spPr>
          <a:xfrm>
            <a:off x="5770066" y="3019425"/>
            <a:ext cx="34004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7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Requerimientos, contratos de datos y diagramación modular.</a:t>
            </a:r>
            <a:endParaRPr/>
          </a:p>
        </p:txBody>
      </p:sp>
      <p:sp>
        <p:nvSpPr>
          <p:cNvPr id="238" name="Google Shape;238;p6"/>
          <p:cNvSpPr txBox="1"/>
          <p:nvPr/>
        </p:nvSpPr>
        <p:spPr>
          <a:xfrm>
            <a:off x="5770066" y="3552825"/>
            <a:ext cx="342042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Fase 2: Construcción Modular</a:t>
            </a:r>
            <a:endParaRPr/>
          </a:p>
        </p:txBody>
      </p:sp>
      <p:sp>
        <p:nvSpPr>
          <p:cNvPr id="239" name="Google Shape;239;p6"/>
          <p:cNvSpPr txBox="1"/>
          <p:nvPr/>
        </p:nvSpPr>
        <p:spPr>
          <a:xfrm>
            <a:off x="5770066" y="3752850"/>
            <a:ext cx="32575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7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Desarrollo STT/TTS, conexión con LLM y controladores RPA.</a:t>
            </a:r>
            <a:endParaRPr/>
          </a:p>
        </p:txBody>
      </p:sp>
      <p:sp>
        <p:nvSpPr>
          <p:cNvPr id="240" name="Google Shape;240;p6"/>
          <p:cNvSpPr txBox="1"/>
          <p:nvPr/>
        </p:nvSpPr>
        <p:spPr>
          <a:xfrm>
            <a:off x="5770066" y="4286250"/>
            <a:ext cx="318039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Fase 3: Integración y Cierre</a:t>
            </a:r>
            <a:endParaRPr/>
          </a:p>
        </p:txBody>
      </p:sp>
      <p:sp>
        <p:nvSpPr>
          <p:cNvPr id="241" name="Google Shape;241;p6"/>
          <p:cNvSpPr txBox="1"/>
          <p:nvPr/>
        </p:nvSpPr>
        <p:spPr>
          <a:xfrm>
            <a:off x="5770066" y="4486275"/>
            <a:ext cx="30289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7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Pruebas de latencia E2E, manuales y memoria técnica.</a:t>
            </a:r>
            <a:endParaRPr/>
          </a:p>
        </p:txBody>
      </p:sp>
      <p:sp>
        <p:nvSpPr>
          <p:cNvPr id="242" name="Google Shape;242;p6"/>
          <p:cNvSpPr txBox="1"/>
          <p:nvPr/>
        </p:nvSpPr>
        <p:spPr>
          <a:xfrm>
            <a:off x="619125" y="428625"/>
            <a:ext cx="11501437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Arquitectura y </a:t>
            </a:r>
            <a:r>
              <a:rPr b="1" i="0" lang="en-US" sz="30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Plan de Trabajo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" y="2892028"/>
            <a:ext cx="3498800" cy="1788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6525" y="2892028"/>
            <a:ext cx="3498800" cy="1788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73925" y="2892028"/>
            <a:ext cx="3498949" cy="1788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9125" y="6391275"/>
            <a:ext cx="109537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31258" y="538162"/>
            <a:ext cx="23050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7"/>
          <p:cNvSpPr txBox="1"/>
          <p:nvPr/>
        </p:nvSpPr>
        <p:spPr>
          <a:xfrm>
            <a:off x="619125" y="6515100"/>
            <a:ext cx="2933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Marco Metodológico de Ingeniería de Software</a:t>
            </a:r>
            <a:endParaRPr/>
          </a:p>
        </p:txBody>
      </p:sp>
      <p:sp>
        <p:nvSpPr>
          <p:cNvPr id="254" name="Google Shape;254;p7"/>
          <p:cNvSpPr txBox="1"/>
          <p:nvPr/>
        </p:nvSpPr>
        <p:spPr>
          <a:xfrm>
            <a:off x="11039475" y="6515100"/>
            <a:ext cx="533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Slide 07</a:t>
            </a:r>
            <a:endParaRPr/>
          </a:p>
        </p:txBody>
      </p:sp>
      <p:pic>
        <p:nvPicPr>
          <p:cNvPr descr="image.png" id="255" name="Google Shape;255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7250" y="3130153"/>
            <a:ext cx="30225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7"/>
          <p:cNvSpPr txBox="1"/>
          <p:nvPr/>
        </p:nvSpPr>
        <p:spPr>
          <a:xfrm>
            <a:off x="857250" y="3530203"/>
            <a:ext cx="317367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Desarrollo Iterativo</a:t>
            </a:r>
            <a:endParaRPr/>
          </a:p>
        </p:txBody>
      </p:sp>
      <p:sp>
        <p:nvSpPr>
          <p:cNvPr id="257" name="Google Shape;257;p7"/>
          <p:cNvSpPr txBox="1"/>
          <p:nvPr/>
        </p:nvSpPr>
        <p:spPr>
          <a:xfrm>
            <a:off x="857250" y="3863578"/>
            <a:ext cx="3022550" cy="578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Ciclos de construcción incremental organizados en 3 fases para asegurar entregables funcionales continuos.</a:t>
            </a:r>
            <a:endParaRPr/>
          </a:p>
        </p:txBody>
      </p:sp>
      <p:pic>
        <p:nvPicPr>
          <p:cNvPr descr="image.png" id="258" name="Google Shape;258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84650" y="3130153"/>
            <a:ext cx="30225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7"/>
          <p:cNvSpPr txBox="1"/>
          <p:nvPr/>
        </p:nvSpPr>
        <p:spPr>
          <a:xfrm>
            <a:off x="4584650" y="3530203"/>
            <a:ext cx="317367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Pruebas Rigurosas</a:t>
            </a:r>
            <a:endParaRPr/>
          </a:p>
        </p:txBody>
      </p:sp>
      <p:sp>
        <p:nvSpPr>
          <p:cNvPr id="260" name="Google Shape;260;p7"/>
          <p:cNvSpPr txBox="1"/>
          <p:nvPr/>
        </p:nvSpPr>
        <p:spPr>
          <a:xfrm>
            <a:off x="4584650" y="3863578"/>
            <a:ext cx="3022550" cy="578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Validación con Pytest, cálculo de tasa de error de palabras (WER) y calibración en múltiples entornos sonoros.</a:t>
            </a:r>
            <a:endParaRPr/>
          </a:p>
        </p:txBody>
      </p:sp>
      <p:pic>
        <p:nvPicPr>
          <p:cNvPr descr="image.png" id="261" name="Google Shape;261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12050" y="3130153"/>
            <a:ext cx="3022699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7"/>
          <p:cNvSpPr txBox="1"/>
          <p:nvPr/>
        </p:nvSpPr>
        <p:spPr>
          <a:xfrm>
            <a:off x="8312050" y="3530203"/>
            <a:ext cx="31737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Optimización del desarrollo</a:t>
            </a:r>
            <a:endParaRPr/>
          </a:p>
        </p:txBody>
      </p:sp>
      <p:sp>
        <p:nvSpPr>
          <p:cNvPr id="263" name="Google Shape;263;p7"/>
          <p:cNvSpPr txBox="1"/>
          <p:nvPr/>
        </p:nvSpPr>
        <p:spPr>
          <a:xfrm>
            <a:off x="8312050" y="3863578"/>
            <a:ext cx="3022699" cy="578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Priorización por valor de usuario, trazabilidad de requerimientos y mitigación sistemática de riesgos técnicos.</a:t>
            </a:r>
            <a:endParaRPr/>
          </a:p>
        </p:txBody>
      </p:sp>
      <p:sp>
        <p:nvSpPr>
          <p:cNvPr id="264" name="Google Shape;264;p7"/>
          <p:cNvSpPr txBox="1"/>
          <p:nvPr/>
        </p:nvSpPr>
        <p:spPr>
          <a:xfrm>
            <a:off x="619125" y="428625"/>
            <a:ext cx="11501437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Metodología de </a:t>
            </a:r>
            <a:r>
              <a:rPr b="1" i="0" lang="en-US" sz="30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Gestión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9" name="Google Shape;26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24725" y="2691854"/>
            <a:ext cx="4248150" cy="2188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" y="6391275"/>
            <a:ext cx="109537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91173" y="538162"/>
            <a:ext cx="18764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8"/>
          <p:cNvSpPr txBox="1"/>
          <p:nvPr/>
        </p:nvSpPr>
        <p:spPr>
          <a:xfrm>
            <a:off x="619125" y="6515100"/>
            <a:ext cx="41338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Evaluación Final • Escuela de Informática y Telecomunicaciones</a:t>
            </a:r>
            <a:endParaRPr/>
          </a:p>
        </p:txBody>
      </p:sp>
      <p:sp>
        <p:nvSpPr>
          <p:cNvPr id="274" name="Google Shape;274;p8"/>
          <p:cNvSpPr txBox="1"/>
          <p:nvPr/>
        </p:nvSpPr>
        <p:spPr>
          <a:xfrm>
            <a:off x="11039475" y="6515100"/>
            <a:ext cx="533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Slide 08</a:t>
            </a:r>
            <a:endParaRPr/>
          </a:p>
        </p:txBody>
      </p:sp>
      <p:pic>
        <p:nvPicPr>
          <p:cNvPr descr="image.png" id="275" name="Google Shape;275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29737" y="2987129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8"/>
          <p:cNvSpPr txBox="1"/>
          <p:nvPr/>
        </p:nvSpPr>
        <p:spPr>
          <a:xfrm>
            <a:off x="7478553" y="3406229"/>
            <a:ext cx="394049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VANSHEE</a:t>
            </a:r>
            <a:endParaRPr/>
          </a:p>
        </p:txBody>
      </p:sp>
      <p:sp>
        <p:nvSpPr>
          <p:cNvPr id="277" name="Google Shape;277;p8"/>
          <p:cNvSpPr txBox="1"/>
          <p:nvPr/>
        </p:nvSpPr>
        <p:spPr>
          <a:xfrm>
            <a:off x="7572375" y="3844379"/>
            <a:ext cx="37528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"Transformando comandos de voz cotidianos en acciones computacionales precisas, fluidas y seguras."</a:t>
            </a:r>
            <a:endParaRPr/>
          </a:p>
        </p:txBody>
      </p:sp>
      <p:sp>
        <p:nvSpPr>
          <p:cNvPr id="278" name="Google Shape;278;p8"/>
          <p:cNvSpPr txBox="1"/>
          <p:nvPr/>
        </p:nvSpPr>
        <p:spPr>
          <a:xfrm>
            <a:off x="7572375" y="4423320"/>
            <a:ext cx="37528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Your Voice • Your System • Total Control</a:t>
            </a:r>
            <a:endParaRPr/>
          </a:p>
        </p:txBody>
      </p:sp>
      <p:pic>
        <p:nvPicPr>
          <p:cNvPr descr="image.png" id="279" name="Google Shape;279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2499717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9150" y="3522464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454521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8"/>
          <p:cNvSpPr txBox="1"/>
          <p:nvPr/>
        </p:nvSpPr>
        <p:spPr>
          <a:xfrm>
            <a:off x="1123950" y="2480667"/>
            <a:ext cx="595074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Optimización y Ergonomía Digital</a:t>
            </a:r>
            <a:endParaRPr/>
          </a:p>
        </p:txBody>
      </p:sp>
      <p:sp>
        <p:nvSpPr>
          <p:cNvPr id="283" name="Google Shape;283;p8"/>
          <p:cNvSpPr txBox="1"/>
          <p:nvPr/>
        </p:nvSpPr>
        <p:spPr>
          <a:xfrm>
            <a:off x="1123950" y="2699742"/>
            <a:ext cx="566737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VANSHEE demuestra que el control por voz reduce significativamente la fatiga operativa y agiliza la ejecución de tareas complejas en el computador.</a:t>
            </a:r>
            <a:endParaRPr/>
          </a:p>
        </p:txBody>
      </p:sp>
      <p:sp>
        <p:nvSpPr>
          <p:cNvPr id="284" name="Google Shape;284;p8"/>
          <p:cNvSpPr txBox="1"/>
          <p:nvPr/>
        </p:nvSpPr>
        <p:spPr>
          <a:xfrm>
            <a:off x="1123950" y="3503414"/>
            <a:ext cx="595074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Integración Segura de IA</a:t>
            </a:r>
            <a:endParaRPr/>
          </a:p>
        </p:txBody>
      </p:sp>
      <p:sp>
        <p:nvSpPr>
          <p:cNvPr id="285" name="Google Shape;285;p8"/>
          <p:cNvSpPr txBox="1"/>
          <p:nvPr/>
        </p:nvSpPr>
        <p:spPr>
          <a:xfrm>
            <a:off x="1123950" y="3722489"/>
            <a:ext cx="566737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combinación de LLMs con esquemas estructurados en Pydantic permite aprovechar el razonamiento generativo sin sacrificar la estabilidad del sistema.</a:t>
            </a:r>
            <a:endParaRPr/>
          </a:p>
        </p:txBody>
      </p:sp>
      <p:sp>
        <p:nvSpPr>
          <p:cNvPr id="286" name="Google Shape;286;p8"/>
          <p:cNvSpPr txBox="1"/>
          <p:nvPr/>
        </p:nvSpPr>
        <p:spPr>
          <a:xfrm>
            <a:off x="1123950" y="4526160"/>
            <a:ext cx="595074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Escalabilidad y Accesibilidad</a:t>
            </a:r>
            <a:endParaRPr/>
          </a:p>
        </p:txBody>
      </p:sp>
      <p:sp>
        <p:nvSpPr>
          <p:cNvPr id="287" name="Google Shape;287;p8"/>
          <p:cNvSpPr txBox="1"/>
          <p:nvPr/>
        </p:nvSpPr>
        <p:spPr>
          <a:xfrm>
            <a:off x="1123950" y="4745235"/>
            <a:ext cx="566737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arquitectura modular sienta las bases para incorporar nuevos plugins de automatización y democratizar el acceso a usuarios con limitaciones motrices.</a:t>
            </a:r>
            <a:endParaRPr/>
          </a:p>
        </p:txBody>
      </p:sp>
      <p:sp>
        <p:nvSpPr>
          <p:cNvPr id="288" name="Google Shape;288;p8"/>
          <p:cNvSpPr txBox="1"/>
          <p:nvPr/>
        </p:nvSpPr>
        <p:spPr>
          <a:xfrm>
            <a:off x="619125" y="428625"/>
            <a:ext cx="11501437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Conclusiones y </a:t>
            </a:r>
            <a:r>
              <a:rPr b="1" i="0" lang="en-US" sz="30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Visión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